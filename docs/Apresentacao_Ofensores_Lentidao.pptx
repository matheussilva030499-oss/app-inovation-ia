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BC9E0"/>
                </a:solidFill>
                <a:latin typeface="Calibri"/>
              </a:rPr>
              <a:t>POSICIONAMENTO ESTRATÉGICO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Ofensores de Lentidão
na Linha de Produção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6E3F0"/>
                </a:solidFill>
                <a:latin typeface="Calibri"/>
              </a:rPr>
              <a:t>Alinhamento entre TI  ·  Área Técnica  ·  Engenharia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Causa raiz antes de culpado   ·   Evidência antes de apontamento   ·   Dono e prazo claros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Mensagem central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97280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0F2C59"/>
                </a:solidFill>
                <a:latin typeface="Calibri"/>
              </a:rPr>
              <a:t>A lentidão, na maioria das ocorrências, não nasce de falha estrutural da TI.</a:t>
            </a:r>
          </a:p>
          <a:p>
            <a:pPr algn="l">
              <a:spcBef>
                <a:spcPts val="1400"/>
              </a:spcBef>
            </a:pPr>
            <a:r>
              <a:rPr sz="1800" b="0">
                <a:solidFill>
                  <a:srgbClr val="4A4A4A"/>
                </a:solidFill>
                <a:latin typeface="Calibri"/>
              </a:rPr>
              <a:t>Os ofensores recorrentes estão em configuração, desempenho de posto, cabeamento e disciplina de processo.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023360"/>
            <a:ext cx="3474720" cy="182880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2062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BC9E0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6177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Causa raiz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074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3F0"/>
                </a:solidFill>
                <a:latin typeface="Calibri"/>
              </a:rPr>
              <a:t>Antes de apontar culpado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4023360"/>
            <a:ext cx="3474720" cy="182880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42062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BC9E0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46177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Evidência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5074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3F0"/>
                </a:solidFill>
                <a:latin typeface="Calibri"/>
              </a:rPr>
              <a:t>Antes de escalar para 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4023360"/>
            <a:ext cx="3474720" cy="182880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9" y="42062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BC9E0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9" y="46177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Dono claro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59" y="5074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3F0"/>
                </a:solidFill>
                <a:latin typeface="Calibri"/>
              </a:rPr>
              <a:t>Com prazo e 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  <a:latin typeface="Calibri"/>
              </a:rPr>
              <a:t>TI  ·  Área Técnica  ·  Engenharia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8A8A"/>
                </a:solidFill>
                <a:latin typeface="Calibri"/>
              </a:rPr>
              <a:t>2/8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Principais ofensores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6B93"/>
                </a:solidFill>
                <a:latin typeface="Calibri"/>
              </a:rPr>
              <a:t>Visão rápida para a gerência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361188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137160" cy="1920240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6B93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RAPs baixa eficiência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88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Calibri"/>
              </a:rPr>
              <a:t>Fila e timeout no posto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554480"/>
            <a:ext cx="361188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137160" cy="1920240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828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6B93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194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Cabos Cat.5 / Cat.5e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788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Calibri"/>
              </a:rPr>
              <a:t>Instabilidade de comunicação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554480"/>
            <a:ext cx="361188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80" y="1554480"/>
            <a:ext cx="137160" cy="1920240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1828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6B93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194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Erro de roteiro/modelo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788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Calibri"/>
              </a:rPr>
              <a:t>Parada e retrabalho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749039"/>
            <a:ext cx="361188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749039"/>
            <a:ext cx="137160" cy="1920240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6B93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38911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IP / conexão física ruim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98347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Calibri"/>
              </a:rPr>
              <a:t>Queda de rede do posto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3749039"/>
            <a:ext cx="361188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749039"/>
            <a:ext cx="137160" cy="1920240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6B93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38911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CPU saturada no posto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498347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Calibri"/>
              </a:rPr>
              <a:t>Travamento e perda de ciclo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80" y="3749039"/>
            <a:ext cx="361188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83880" y="3749039"/>
            <a:ext cx="137160" cy="1920240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6B93"/>
                </a:solidFill>
                <a:latin typeface="Calibri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438911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Passou / não passou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98347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Calibri"/>
              </a:rPr>
              <a:t>Retrabalho e perda de ritmo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  <a:latin typeface="Calibri"/>
              </a:rPr>
              <a:t>TI  ·  Área Técnica  ·  Engenharia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8A8A"/>
                </a:solidFill>
                <a:latin typeface="Calibri"/>
              </a:rPr>
              <a:t>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Evidências — conexão física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6B93"/>
                </a:solidFill>
                <a:latin typeface="Calibri"/>
              </a:rPr>
              <a:t>Cabo, conector e instalação do posto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778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74520"/>
            <a:ext cx="1188720" cy="41148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019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EV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18745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2C59"/>
                </a:solidFill>
                <a:latin typeface="Calibri"/>
              </a:rPr>
              <a:t>Cabo sem presilha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603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Calibri"/>
              </a:rPr>
              <a:t>Solta com vibração → queda de rede da RASP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554480"/>
            <a:ext cx="55778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1874520"/>
            <a:ext cx="1188720" cy="41148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9019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EV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0" y="18745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2C59"/>
                </a:solidFill>
                <a:latin typeface="Calibri"/>
              </a:rPr>
              <a:t>RJ45 oxidado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603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Calibri"/>
              </a:rPr>
              <a:t>Contato ruim → instabilidade e lentidão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94760"/>
            <a:ext cx="55778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" y="4114800"/>
            <a:ext cx="1188720" cy="41148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4223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EV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41148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2C59"/>
                </a:solidFill>
                <a:latin typeface="Calibri"/>
              </a:rPr>
              <a:t>Cabo Cat.5 / Cat.5e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006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Calibri"/>
              </a:rPr>
              <a:t>Padrão abaixo do desejável na linha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3794760"/>
            <a:ext cx="55778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37960" y="4114800"/>
            <a:ext cx="1188720" cy="41148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14223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EV 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1148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2C59"/>
                </a:solidFill>
                <a:latin typeface="Calibri"/>
              </a:rPr>
              <a:t>RASP pendurada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8006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Calibri"/>
              </a:rPr>
              <a:t>Falta de disciplina de instalação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  <a:latin typeface="Calibri"/>
              </a:rPr>
              <a:t>TI  ·  Área Técnica  ·  Engenharia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8A8A"/>
                </a:solidFill>
                <a:latin typeface="Calibri"/>
              </a:rPr>
              <a:t>4/8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Evidências — configuração e desempenho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B6B93"/>
                </a:solidFill>
                <a:latin typeface="Calibri"/>
              </a:rPr>
              <a:t>Roteiro errado e RASP com CPU saturada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7784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577840" cy="64008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Configuração de processo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50292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A4A4A"/>
                </a:solidFill>
                <a:latin typeface="Calibri"/>
              </a:rPr>
              <a:t>EV 05 — Modelo divergente no roteiro
Bases coletam, mas modelo ≠ placas da linha.
EV 06 — FAIL recorrente
Serial não pertence ao produto cadastrado.
Dono: Engenharia / Área Técnica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54480"/>
            <a:ext cx="548640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54480"/>
            <a:ext cx="5486400" cy="640080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691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Desempenho do posto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468880"/>
            <a:ext cx="50292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A4A4A"/>
                </a:solidFill>
                <a:latin typeface="Calibri"/>
              </a:rPr>
              <a:t>EV 07 — TCL006 com CPU em 100%
Gargalo de processamento no posto.
EV 08 — TCL007 com CPU em 100%
Mesmo padrão em outro posto.
Dono: Área Técnica / Engenharia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  <a:latin typeface="Calibri"/>
              </a:rPr>
              <a:t>TI  ·  Área Técnica  ·  Engenharia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8A8A"/>
                </a:solidFill>
                <a:latin typeface="Calibri"/>
              </a:rPr>
              <a:t>5/8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Compromisso da TI — Treinamento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A4A4A"/>
                </a:solidFill>
                <a:latin typeface="Calibri"/>
              </a:rPr>
              <a:t>A TI não veio só apontar problema. Vamos capacitar Área Técnica e Engenharia.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3611880" cy="320040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BC9E0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IP em RAP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49039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6E3F0"/>
                </a:solidFill>
                <a:latin typeface="Calibri"/>
              </a:rPr>
              <a:t>Padronização e prevenção
de IP duplicado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103120"/>
            <a:ext cx="3611880" cy="320040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377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BC9E0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Filebeat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749039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6E3F0"/>
                </a:solidFill>
                <a:latin typeface="Calibri"/>
              </a:rPr>
              <a:t>Coleta/envio de logs
e boas práticas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103120"/>
            <a:ext cx="3611880" cy="320040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377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BC9E0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926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Checklist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749039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6E3F0"/>
                </a:solidFill>
                <a:latin typeface="Calibri"/>
              </a:rPr>
              <a:t>Antes de classificar como
“falha de TI”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  <a:latin typeface="Calibri"/>
              </a:rPr>
              <a:t>TI  ·  Área Técnica  ·  Engenharia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8A8A"/>
                </a:solidFill>
                <a:latin typeface="Calibri"/>
              </a:rPr>
              <a:t>6/8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Plano de ação resumido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1247120" cy="50292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087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508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Dono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1124712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30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6B93"/>
                </a:solidFill>
                <a:latin typeface="Calibri"/>
              </a:rPr>
              <a:t>PA-01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13055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Padronizar/substituir cabos e conectores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13055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Área Técnica / Engenharia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39"/>
            <a:ext cx="11247120" cy="6400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770631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6B93"/>
                </a:solidFill>
                <a:latin typeface="Calibri"/>
              </a:rPr>
              <a:t>PA-02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770631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Eliminar IPs duplicados e oficializar endereçamento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70631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Área Técnica / Engenharia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46120"/>
            <a:ext cx="1124712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1071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6B93"/>
                </a:solidFill>
                <a:latin typeface="Calibri"/>
              </a:rPr>
              <a:t>PA-03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341071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Controle de liberação de roteiro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4107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Engenharia / Área Técnica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86200"/>
            <a:ext cx="11247120" cy="6400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05079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6B93"/>
                </a:solidFill>
                <a:latin typeface="Calibri"/>
              </a:rPr>
              <a:t>PA-04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05079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Adequação de RASPs/PCs com baixa performance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507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Área Técnica / Engenharia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526279"/>
            <a:ext cx="1124712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690871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6B93"/>
                </a:solidFill>
                <a:latin typeface="Calibri"/>
              </a:rPr>
              <a:t>PA-05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4690871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Padronizar status passou/não passou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4690871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Engenharia / Área Técnica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166360"/>
            <a:ext cx="11247120" cy="64008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3309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6B93"/>
                </a:solidFill>
                <a:latin typeface="Calibri"/>
              </a:rPr>
              <a:t>PA-06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533095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Treinamento TI (IP RAP + Filebeat + checklist)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533095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Calibri"/>
              </a:rPr>
              <a:t>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  <a:latin typeface="Calibri"/>
              </a:rPr>
              <a:t>TI  ·  Área Técnica  ·  Engenharia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8A8A"/>
                </a:solidFill>
                <a:latin typeface="Calibri"/>
              </a:rPr>
              <a:t>7/8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1645920"/>
          </a:xfrm>
          <a:prstGeom prst="rect">
            <a:avLst/>
          </a:prstGeom>
          <a:solidFill>
            <a:srgbClr val="1B6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Problema de processo
não se resolve com chamado de TI.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9BC9E0"/>
                </a:solidFill>
                <a:latin typeface="Calibri"/>
              </a:rPr>
              <a:t>Disciplina de processo  ·  Padronização de posto  ·  Dono claro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TI capacita (IP RAP + Filebeat + checklist)
Engenharia e Área Técnica corrigem na origem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